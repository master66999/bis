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judges and members of the evaluation committee. Today we present BIS SmartAssist, our enterprise-grade AI solution engineered for Smart India Hackathon problem statement SIH26107 under the Bureau of Indian Standards (BIS).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Explanation slide: Emphasize that generic LLMs fail in regulatory domains because hallucinated standards cause legal penalties. BIS SmartAssist bridges this gap by grounding 23,866 Indian Standards and 17 technical department booklets into a single, high-speed, traceable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Innovation &amp; Uniqueness: Highlight the fine-tuned cross-encoder with adversarial hard-negative mining, clause-level citations, multi-signal confidence estimation, and 100% unsupported query refusal that guarantees zero hallucination.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Technologies &amp; Approach: Emphasize the four distinct stages: 1) Dual-channel candidate pooling (Top-60), 2) Neural Cross-Encoder reranking fine-tuned on PyTorch, 3) 4-signal confidence scoring, and 4) Zero-hallucination citation-grounded 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Feasibility: Stress that this is not a mock concept. 23,866 standards and 17 booklets are already running in the database. CPU inference is under 55ms, meaning it is cost-effective and ready for immediate deployment on MeitY or NIC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Viability: Highlight that BIS SmartAssist satisfies institutional, economic, and societal viability. It eliminates consulting expenses for MSMEs, lightens officer workload at BIS, and operates sustainably on open-source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&amp; Benefits: Point to the empirical numbers on top: 98% Recall@5, 100% clause accuracy, and 100% unsupported query refusal. Explain how this benefits both MSMEs seeking compliance and the BIS administration managing millions of stakeholder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Conclusion: Summarize the scientific rigor of our research paper and outline our clear, actionable roadmap for scaling BIS SmartAssist into a nationwide digital public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5120640" cy="411480"/>
          </a:xfrm>
          <a:prstGeom prst="roundRect">
            <a:avLst/>
          </a:prstGeom>
          <a:solidFill>
            <a:srgbClr val="14375A"/>
          </a:solidFill>
          <a:ln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017"/>
                </a:solidFill>
              </a:defRPr>
            </a:pPr>
            <a:r>
              <a:t>🇮🇳 SMART INDIA HACKATHON 2026 • SIH26107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Georgia"/>
              </a:defRPr>
            </a:pPr>
            <a:r>
              <a:t>BIS SmartAssist</a:t>
            </a:r>
          </a:p>
          <a:p>
            <a:pPr>
              <a:defRPr sz="2200" b="1">
                <a:solidFill>
                  <a:srgbClr val="D4A017"/>
                </a:solidFill>
                <a:latin typeface="Arial"/>
              </a:defRPr>
            </a:pPr>
            <a:r>
              <a:t>🛡️ AI-Powered Intelligent Assistant for Indian Standards &amp; BIS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10332720" cy="2103120"/>
          </a:xfrm>
          <a:prstGeom prst="roundRect">
            <a:avLst/>
          </a:prstGeom>
          <a:solidFill>
            <a:srgbClr val="103050"/>
          </a:solidFill>
          <a:ln>
            <a:solidFill>
              <a:srgbClr val="1E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🧠 Core Innovation: Fine-Tuned Cross-Encoder RAG Architecture with Clause-Level Grounding &amp; Zero Hallucination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📚 23,866 Published Indian Standards indexed with full metadata and classification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📑 17 Official Technical Department Booklets extracted with multi-channel candidate pooling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📊 Real-Time Calibrated Confidence Meter &amp; Tri-Lingual Support (English, हिन्दी, मराठी)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017"/>
                </a:solidFill>
                <a:latin typeface="Arial"/>
              </a:defRPr>
            </a:pPr>
            <a:r>
              <a:t>SMART INDIA HACKATHON • SIH26107 | BIS SMARTASSIST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4C78"/>
                </a:solidFill>
                <a:latin typeface="Georgia"/>
              </a:defRPr>
            </a:pPr>
            <a:r>
              <a:t>Explanation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4C78"/>
                </a:solidFill>
              </a:defRPr>
            </a:pPr>
            <a:r>
              <a:t>⚠️ The Problem &amp; Critical Challenges</a:t>
            </a:r>
          </a:p>
          <a:p>
            <a:r>
              <a:rPr b="1" sz="1200">
                <a:solidFill>
                  <a:srgbClr val="1E293B"/>
                </a:solidFill>
              </a:rPr>
              <a:t>• 📚 Information Overload:</a:t>
            </a:r>
            <a:r>
              <a:rPr sz="1200">
                <a:solidFill>
                  <a:srgbClr val="64748B"/>
                </a:solidFill>
              </a:rPr>
              <a:t> Over 23,800+ published Indian Standards across diverse technical departments make compliance discovery arduous for MSMEs, startups, and citizens.</a:t>
            </a:r>
          </a:p>
          <a:p>
            <a:r>
              <a:rPr b="1" sz="1200">
                <a:solidFill>
                  <a:srgbClr val="1E293B"/>
                </a:solidFill>
              </a:rPr>
              <a:t>• 🤖 Hallucination Risk in Generic AI:</a:t>
            </a:r>
            <a:r>
              <a:rPr sz="1200">
                <a:solidFill>
                  <a:srgbClr val="64748B"/>
                </a:solidFill>
              </a:rPr>
              <a:t> Standard LLMs frequently fabricate standard codes, clauses, fee structures, and testing criteria, which is catastrophic for legal conformity.</a:t>
            </a:r>
          </a:p>
          <a:p>
            <a:r>
              <a:rPr b="1" sz="1200">
                <a:solidFill>
                  <a:srgbClr val="1E293B"/>
                </a:solidFill>
              </a:rPr>
              <a:t>• 🗄️ Siloed Regulatory Documentation:</a:t>
            </a:r>
            <a:r>
              <a:rPr sz="1200">
                <a:solidFill>
                  <a:srgbClr val="64748B"/>
                </a:solidFill>
              </a:rPr>
              <a:t> Standards, Quality Control Orders (QCOs), departmental booklets, and laboratory testing directories are fragmented across multiple portals.</a:t>
            </a:r>
          </a:p>
          <a:p>
            <a:r>
              <a:rPr b="1" sz="1200">
                <a:solidFill>
                  <a:srgbClr val="1E293B"/>
                </a:solidFill>
              </a:rPr>
              <a:t>• 🌐 Language &amp; Accessibility Barrier:</a:t>
            </a:r>
            <a:r>
              <a:rPr sz="1200">
                <a:solidFill>
                  <a:srgbClr val="64748B"/>
                </a:solidFill>
              </a:rPr>
              <a:t> Technical standards are predominantly in complex regulatory English, alienating vernacular manufacturers across Indian states.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4C78"/>
                </a:solidFill>
              </a:defRPr>
            </a:pPr>
            <a:r>
              <a:t>💡 The Solution: BIS SmartAssist</a:t>
            </a:r>
          </a:p>
          <a:p>
            <a:r>
              <a:rPr b="1" sz="1200">
                <a:solidFill>
                  <a:srgbClr val="1E293B"/>
                </a:solidFill>
              </a:rPr>
              <a:t>• 🎯 End-to-End Grounded Assistant:</a:t>
            </a:r>
            <a:r>
              <a:rPr sz="1200">
                <a:solidFill>
                  <a:srgbClr val="64748B"/>
                </a:solidFill>
              </a:rPr>
              <a:t> An intelligent conversational platform linking queries to exact clauses, standards, and official e-BIS/Manakonline sources.</a:t>
            </a:r>
          </a:p>
          <a:p>
            <a:r>
              <a:rPr b="1" sz="1200">
                <a:solidFill>
                  <a:srgbClr val="1E293B"/>
                </a:solidFill>
              </a:rPr>
              <a:t>• ⚡ Hybrid Retrieval Engine:</a:t>
            </a:r>
            <a:r>
              <a:rPr sz="1200">
                <a:solidFill>
                  <a:srgbClr val="64748B"/>
                </a:solidFill>
              </a:rPr>
              <a:t> Blends BM25 Okapi lexical indexing with 384-dimensional dense semantic vector representations for high recall.</a:t>
            </a:r>
          </a:p>
          <a:p>
            <a:r>
              <a:rPr b="1" sz="1200">
                <a:solidFill>
                  <a:srgbClr val="1E293B"/>
                </a:solidFill>
              </a:rPr>
              <a:t>• 🧠 Domain-Adapted Neural Reranker:</a:t>
            </a:r>
            <a:r>
              <a:rPr sz="1200">
                <a:solidFill>
                  <a:srgbClr val="64748B"/>
                </a:solidFill>
              </a:rPr>
              <a:t> Fine-tuned Cross-Encoder on real PyTorch pipeline with adversarial hard-negative mining for precision scoring.</a:t>
            </a:r>
          </a:p>
          <a:p>
            <a:r>
              <a:rPr b="1" sz="1200">
                <a:solidFill>
                  <a:srgbClr val="1E293B"/>
                </a:solidFill>
              </a:rPr>
              <a:t>• 🛡️ Explainability &amp; Trust:</a:t>
            </a:r>
            <a:r>
              <a:rPr sz="1200">
                <a:solidFill>
                  <a:srgbClr val="64748B"/>
                </a:solidFill>
              </a:rPr>
              <a:t> Every response includes a real-time Calibrated Confidence Score, clause citations, and direct portal verification links.</a:t>
            </a:r>
          </a:p>
          <a:p>
            <a:r>
              <a:rPr b="1" sz="1200">
                <a:solidFill>
                  <a:srgbClr val="1E293B"/>
                </a:solidFill>
              </a:rPr>
              <a:t>• 📋 Comprehensive Compliance Hub:</a:t>
            </a:r>
            <a:r>
              <a:rPr sz="1200">
                <a:solidFill>
                  <a:srgbClr val="64748B"/>
                </a:solidFill>
              </a:rPr>
              <a:t> Product Standard Finder, QCO mandatory lookup, accredited lab directory, and audit dossier generator.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017"/>
                </a:solidFill>
                <a:latin typeface="Arial"/>
              </a:defRPr>
            </a:pPr>
            <a:r>
              <a:t>SMART INDIA HACKATHON • SIH26107 | BIS SMARTASSIST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4C78"/>
                </a:solidFill>
                <a:latin typeface="Georgia"/>
              </a:defRPr>
            </a:pPr>
            <a:r>
              <a:t>Innovation &amp; Uniqueness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291840" cy="73152"/>
          </a:xfrm>
          <a:prstGeom prst="rect">
            <a:avLst/>
          </a:prstGeom>
          <a:solidFill>
            <a:srgbClr val="18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4C78"/>
                </a:solidFill>
              </a:defRPr>
            </a:pPr>
            <a:r>
              <a:t>🛡️ Zero-Hallucination Strict Grounding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Strict dual-source verification against the published BIS catalogue and departmental booklets. Refuses unsupported queries rather than hallucinating answers (100% unsupported query accuracy).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291840" cy="73152"/>
          </a:xfrm>
          <a:prstGeom prst="rect">
            <a:avLst/>
          </a:prstGeom>
          <a:solidFill>
            <a:srgbClr val="109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4C78"/>
                </a:solidFill>
              </a:defRPr>
            </a:pPr>
            <a:r>
              <a:t>🧠 Domain Fine-Tuned Cross-Encoder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Trained on real PyTorch sentence-transformers with 3-phase adversarial hard-negative mining (mining false-positive standard overlaps). Reaches 96.15% validation accuracy and 98% Recall@5.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383280" cy="73152"/>
          </a:xfrm>
          <a:prstGeom prst="rect">
            <a:avLst/>
          </a:prstGeom>
          <a:solidFill>
            <a:srgbClr val="18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4C78"/>
                </a:solidFill>
              </a:defRPr>
            </a:pPr>
            <a:r>
              <a:t>📑 Clause-Level &amp; Page-Level Traceability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Directly pinpoints specific clauses (e.g., IS 4984 Clause 7.2) and departmental booklet pages with clickable source cards directly hyperlinked to official BIS Manakonline &amp; e-BIS portals.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329184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4C78"/>
                </a:solidFill>
              </a:defRPr>
            </a:pPr>
            <a:r>
              <a:t>📊 Multi-Signal Calibrated Confidence Meter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Dynamically computes confidence via an explainable 4-signal formula: Top Candidate Score (35%), Exact IS Number match (25%), Channel Agreement (20%), and Rank-1 vs Rank-2 Margin (20%).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1148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4114800"/>
            <a:ext cx="3291840" cy="73152"/>
          </a:xfrm>
          <a:prstGeom prst="rect">
            <a:avLst/>
          </a:prstGeom>
          <a:solidFill>
            <a:srgbClr val="18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29768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4C78"/>
                </a:solidFill>
              </a:defRPr>
            </a:pPr>
            <a:r>
              <a:t>🔀 Multi-Channel Candidate Pooling (Top-60)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Parallel retrieval retrieves Top 30 BM25 Okapi lexical candidates and Top 30 dense semantic vector candidates, normalized and deduplicated before neural reranking for zero missed edge cases.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41148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4114800"/>
            <a:ext cx="3383280" cy="73152"/>
          </a:xfrm>
          <a:prstGeom prst="rect">
            <a:avLst/>
          </a:prstGeom>
          <a:solidFill>
            <a:srgbClr val="18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2976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4C78"/>
                </a:solidFill>
              </a:defRPr>
            </a:pPr>
            <a:r>
              <a:t>🗣️ Native Tri-Lingual Accessibility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Full multilingual accessibility supporting English, हिन्दी (Hindi), and मराठी (Marathi) with instant localized UI toggling and multilingual cross-lingual query understanding.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017"/>
                </a:solidFill>
                <a:latin typeface="Arial"/>
              </a:defRPr>
            </a:pPr>
            <a:r>
              <a:t>SMART INDIA HACKATHON • SIH26107 | BIS SMARTASSIST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4C78"/>
                </a:solidFill>
                <a:latin typeface="Georgia"/>
              </a:defRPr>
            </a:pPr>
            <a:r>
              <a:t>Technologies to be Used and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8404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4C78"/>
                </a:solidFill>
              </a:defRPr>
            </a:pPr>
            <a:r>
              <a:t>🛠️ Technology Stack</a:t>
            </a:r>
          </a:p>
          <a:p>
            <a:r>
              <a:rPr b="1" sz="1100">
                <a:solidFill>
                  <a:srgbClr val="1E293B"/>
                </a:solidFill>
              </a:rPr>
              <a:t>• ⚛️ Frontend App:</a:t>
            </a:r>
            <a:r>
              <a:rPr sz="1050">
                <a:solidFill>
                  <a:srgbClr val="64748B"/>
                </a:solidFill>
              </a:rPr>
              <a:t> Next.js 14 (App Router), React 18, TypeScript, Mobile-First CSS</a:t>
            </a:r>
          </a:p>
          <a:p>
            <a:r>
              <a:rPr b="1" sz="1100">
                <a:solidFill>
                  <a:srgbClr val="1E293B"/>
                </a:solidFill>
              </a:rPr>
              <a:t>• ⚡ Backend Framework:</a:t>
            </a:r>
            <a:r>
              <a:rPr sz="1050">
                <a:solidFill>
                  <a:srgbClr val="64748B"/>
                </a:solidFill>
              </a:rPr>
              <a:t> FastAPI (Asynchronous Python 3.11), Pydantic v2, SQLAlchemy</a:t>
            </a:r>
          </a:p>
          <a:p>
            <a:r>
              <a:rPr b="1" sz="1100">
                <a:solidFill>
                  <a:srgbClr val="1E293B"/>
                </a:solidFill>
              </a:rPr>
              <a:t>• 🔍 Retrieval Engine:</a:t>
            </a:r>
            <a:r>
              <a:rPr sz="1050">
                <a:solidFill>
                  <a:srgbClr val="64748B"/>
                </a:solidFill>
              </a:rPr>
              <a:t> PureBM25Okapi (k1=1.5, b=0.75), Sublinear TF-IDF, ChromaDB</a:t>
            </a:r>
          </a:p>
          <a:p>
            <a:r>
              <a:rPr b="1" sz="1100">
                <a:solidFill>
                  <a:srgbClr val="1E293B"/>
                </a:solidFill>
              </a:rPr>
              <a:t>• 🧠 Deep Learning:</a:t>
            </a:r>
            <a:r>
              <a:rPr sz="1050">
                <a:solidFill>
                  <a:srgbClr val="64748B"/>
                </a:solidFill>
              </a:rPr>
              <a:t> PyTorch, Sentence-Transformers, Fine-Tuned Cross-Encoder (MiniLM)</a:t>
            </a:r>
          </a:p>
          <a:p>
            <a:r>
              <a:rPr b="1" sz="1100">
                <a:solidFill>
                  <a:srgbClr val="1E293B"/>
                </a:solidFill>
              </a:rPr>
              <a:t>• 📄 Data Pipeline:</a:t>
            </a:r>
            <a:r>
              <a:rPr sz="1050">
                <a:solidFill>
                  <a:srgbClr val="64748B"/>
                </a:solidFill>
              </a:rPr>
              <a:t> Dynamic header inspection, regex IS extractors, PDFPlumber</a:t>
            </a:r>
          </a:p>
          <a:p>
            <a:r>
              <a:rPr b="1" sz="1100">
                <a:solidFill>
                  <a:srgbClr val="1E293B"/>
                </a:solidFill>
              </a:rPr>
              <a:t>• 🐳 Deployment &amp; DevOps:</a:t>
            </a:r>
            <a:r>
              <a:rPr sz="1050">
                <a:solidFill>
                  <a:srgbClr val="64748B"/>
                </a:solidFill>
              </a:rPr>
              <a:t> Docker, Docker-Compose, Railway / Uvicorn, SQLite/Postgres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645920"/>
            <a:ext cx="6583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828800"/>
            <a:ext cx="6217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4C78"/>
                </a:solidFill>
              </a:defRPr>
            </a:pPr>
            <a:r>
              <a:t>🔄 Methodological Approach: 4-Stage Pipeline</a:t>
            </a:r>
          </a:p>
          <a:p>
            <a:r>
              <a:rPr b="1" sz="1150">
                <a:solidFill>
                  <a:srgbClr val="0A2540"/>
                </a:solidFill>
              </a:rPr>
              <a:t>1️⃣ Stage 1: Intent &amp; Dual-Channel Candidate Pooling
</a:t>
            </a:r>
            <a:r>
              <a:rPr sz="1000">
                <a:solidFill>
                  <a:srgbClr val="64748B"/>
                </a:solidFill>
              </a:rPr>
              <a:t>Extract entities (IS codes, products, clauses). Concurrently query BM25 Lexical Index (Top-30) and Dense Semantic Vector Index (Top-30). Merge, deduplicate, and normalize scores into a candidate pool of 50-60 items.</a:t>
            </a:r>
          </a:p>
          <a:p>
            <a:r>
              <a:rPr b="1" sz="1150">
                <a:solidFill>
                  <a:srgbClr val="0A2540"/>
                </a:solidFill>
              </a:rPr>
              <a:t>2️⃣ Stage 2: Fine-Tuned Neural Cross-Encoder Reranking
</a:t>
            </a:r>
            <a:r>
              <a:rPr sz="1000">
                <a:solidFill>
                  <a:srgbClr val="64748B"/>
                </a:solidFill>
              </a:rPr>
              <a:t>Pass (Query, Candidate) pairs into fine-tuned Cross-Encoder. Compute neural matching scores. Blend: Final = 0.70 * RerankScore + 0.30 * NormalizedRetrievalScore to elevate precise standards and eliminate distractors.</a:t>
            </a:r>
          </a:p>
          <a:p>
            <a:r>
              <a:rPr b="1" sz="1150">
                <a:solidFill>
                  <a:srgbClr val="0A2540"/>
                </a:solidFill>
              </a:rPr>
              <a:t>3️⃣ Stage 3: Calibrated Multi-Signal Confidence Calibration
</a:t>
            </a:r>
            <a:r>
              <a:rPr sz="1000">
                <a:solidFill>
                  <a:srgbClr val="64748B"/>
                </a:solidFill>
              </a:rPr>
              <a:t>Calculate composite score: Confidence = 0.35 * Stop + 0.25 * Sexact + 0.20 * Sagree + 0.20 * Smargin. Assign dynamic category (VERY_HIGH, HIGH, MEDIUM, LOW) to govern answer generation.</a:t>
            </a:r>
          </a:p>
          <a:p>
            <a:r>
              <a:rPr b="1" sz="1150">
                <a:solidFill>
                  <a:srgbClr val="0A2540"/>
                </a:solidFill>
              </a:rPr>
              <a:t>4️⃣ Stage 4: Grounded Synthesis &amp; Citations Injection
</a:t>
            </a:r>
            <a:r>
              <a:rPr sz="1000">
                <a:solidFill>
                  <a:srgbClr val="64748B"/>
                </a:solidFill>
              </a:rPr>
              <a:t>Generate structured factual summary citing Standard Number, Title, Clause, Department, and direct link to Manakonline/e-BIS. Refuse out-of-scope queries if confidence is insufficient.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017"/>
                </a:solidFill>
                <a:latin typeface="Arial"/>
              </a:defRPr>
            </a:pPr>
            <a:r>
              <a:t>SMART INDIA HACKATHON • SIH26107 | BIS SMARTASSIST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4C78"/>
                </a:solidFill>
                <a:latin typeface="Georgia"/>
              </a:defRPr>
            </a:pPr>
            <a:r>
              <a:t>Feasibility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73152"/>
          </a:xfrm>
          <a:prstGeom prst="rect">
            <a:avLst/>
          </a:prstGeom>
          <a:solidFill>
            <a:srgbClr val="18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4C78"/>
                </a:solidFill>
              </a:defRPr>
            </a:pPr>
            <a:r>
              <a:t>🚀 Technical Feasibility</a:t>
            </a:r>
          </a:p>
          <a:p>
            <a:pPr>
              <a:defRPr sz="1100" b="1">
                <a:solidFill>
                  <a:srgbClr val="D4A017"/>
                </a:solidFill>
              </a:defRPr>
            </a:pPr>
            <a:r>
              <a:t>High Readiness Level (TRL 7/8)</a:t>
            </a:r>
          </a:p>
          <a:p>
            <a:r>
              <a:rPr sz="1050">
                <a:solidFill>
                  <a:srgbClr val="1E293B"/>
                </a:solidFill>
              </a:rPr>
              <a:t>• Fully functional end-to-end working prototype with 23,866 Indian Standards already ingested and cleaned.</a:t>
            </a:r>
          </a:p>
          <a:p>
            <a:r>
              <a:rPr sz="1050">
                <a:solidFill>
                  <a:srgbClr val="1E293B"/>
                </a:solidFill>
              </a:rPr>
              <a:t>• 17 Official Departmental Resource Handouts parsed, chunked, and indexed with clause metadata.</a:t>
            </a:r>
          </a:p>
          <a:p>
            <a:r>
              <a:rPr sz="1050">
                <a:solidFill>
                  <a:srgbClr val="1E293B"/>
                </a:solidFill>
              </a:rPr>
              <a:t>• Automated PyTest validation suite passing 100% across dataset, cleaning, retrieval, API, and booklets.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383280" cy="73152"/>
          </a:xfrm>
          <a:prstGeom prst="rect">
            <a:avLst/>
          </a:prstGeom>
          <a:solidFill>
            <a:srgbClr val="18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4C78"/>
                </a:solidFill>
              </a:defRPr>
            </a:pPr>
            <a:r>
              <a:t>⏱️ Computational Feasibility</a:t>
            </a:r>
          </a:p>
          <a:p>
            <a:pPr>
              <a:defRPr sz="1100" b="1">
                <a:solidFill>
                  <a:srgbClr val="D4A017"/>
                </a:solidFill>
              </a:defRPr>
            </a:pPr>
            <a:r>
              <a:t>Ultra-Lightweight &amp; Sub-Second Latency</a:t>
            </a:r>
          </a:p>
          <a:p>
            <a:r>
              <a:rPr sz="1050">
                <a:solidFill>
                  <a:srgbClr val="1E293B"/>
                </a:solidFill>
              </a:rPr>
              <a:t>• Average retrieval &amp; rerank latency is under 55 ms on standard CPU hardware without requiring expensive GPUs.</a:t>
            </a:r>
          </a:p>
          <a:p>
            <a:r>
              <a:rPr sz="1050">
                <a:solidFill>
                  <a:srgbClr val="1E293B"/>
                </a:solidFill>
              </a:rPr>
              <a:t>• Compact vector index footprint (under 300 MB RAM) allows cost-effective deployment on minimal cloud instances.</a:t>
            </a:r>
          </a:p>
          <a:p>
            <a:r>
              <a:rPr sz="1050">
                <a:solidFill>
                  <a:srgbClr val="1E293B"/>
                </a:solidFill>
              </a:rPr>
              <a:t>• Asynchronous FastAPI server handles high concurrent user requests with sub-100ms P95 latency.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383280" cy="73152"/>
          </a:xfrm>
          <a:prstGeom prst="rect">
            <a:avLst/>
          </a:prstGeom>
          <a:solidFill>
            <a:srgbClr val="18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4C78"/>
                </a:solidFill>
              </a:defRPr>
            </a:pPr>
            <a:r>
              <a:t>🔌 Operational &amp; Integration Feasibility</a:t>
            </a:r>
          </a:p>
          <a:p>
            <a:pPr>
              <a:defRPr sz="1100" b="1">
                <a:solidFill>
                  <a:srgbClr val="D4A017"/>
                </a:solidFill>
              </a:defRPr>
            </a:pPr>
            <a:r>
              <a:t>Seamless API &amp; Portal Integration</a:t>
            </a:r>
          </a:p>
          <a:p>
            <a:r>
              <a:rPr sz="1050">
                <a:solidFill>
                  <a:srgbClr val="1E293B"/>
                </a:solidFill>
              </a:rPr>
              <a:t>• RESTful API architecture effortlessly embeds into existing BIS portals: Manakonline, e-BIS, and BIS Care App.</a:t>
            </a:r>
          </a:p>
          <a:p>
            <a:r>
              <a:rPr sz="1050">
                <a:solidFill>
                  <a:srgbClr val="1E293B"/>
                </a:solidFill>
              </a:rPr>
              <a:t>• Continuous incremental ingestion script allows dynamic updates whenever new standards or QCO amendments are published.</a:t>
            </a:r>
          </a:p>
          <a:p>
            <a:r>
              <a:rPr sz="1050">
                <a:solidFill>
                  <a:srgbClr val="1E293B"/>
                </a:solidFill>
              </a:rPr>
              <a:t>• Ready-to-deploy Docker and Docker-Compose configuration for immediate on-premise or sovereign cloud hosting (NIC/MeitY).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017"/>
                </a:solidFill>
                <a:latin typeface="Arial"/>
              </a:defRPr>
            </a:pPr>
            <a:r>
              <a:t>SMART INDIA HACKATHON • SIH26107 | BIS SMARTASSIST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4C78"/>
                </a:solidFill>
                <a:latin typeface="Georgia"/>
              </a:defRPr>
            </a:pPr>
            <a:r>
              <a:t>Viability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18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4C78"/>
                </a:solidFill>
              </a:defRPr>
            </a:pPr>
            <a:r>
              <a:t>🏛️ Institutional Viability (BIS)</a:t>
            </a:r>
          </a:p>
          <a:p>
            <a:r>
              <a:rPr sz="1000">
                <a:solidFill>
                  <a:srgbClr val="1E293B"/>
                </a:solidFill>
              </a:rPr>
              <a:t>• Directly aligns with BIS's mandate for standardization, product quality, and consumer safety.</a:t>
            </a:r>
          </a:p>
          <a:p>
            <a:r>
              <a:rPr sz="1000">
                <a:solidFill>
                  <a:srgbClr val="1E293B"/>
                </a:solidFill>
              </a:rPr>
              <a:t>• Drastically reduces manual inquiry burdens on BIS nodal officers and helpline executives.</a:t>
            </a:r>
          </a:p>
          <a:p>
            <a:r>
              <a:rPr sz="1000">
                <a:solidFill>
                  <a:srgbClr val="1E293B"/>
                </a:solidFill>
              </a:rPr>
              <a:t>• Provides real-time administrative telemetry, tracking emerging compliance trends and common MSME query hotspots.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109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4C78"/>
                </a:solidFill>
              </a:defRPr>
            </a:pPr>
            <a:r>
              <a:t>💼 Economic &amp; MSME Viability</a:t>
            </a:r>
          </a:p>
          <a:p>
            <a:r>
              <a:rPr sz="1000">
                <a:solidFill>
                  <a:srgbClr val="1E293B"/>
                </a:solidFill>
              </a:rPr>
              <a:t>• Zero-cost barrier for MSMEs and startups: Replaces expensive third-party compliance consultants.</a:t>
            </a:r>
          </a:p>
          <a:p>
            <a:r>
              <a:rPr sz="1000">
                <a:solidFill>
                  <a:srgbClr val="1E293B"/>
                </a:solidFill>
              </a:rPr>
              <a:t>• Fast-tracks certification cycles: Cuts standards identification time from days to sub-seconds.</a:t>
            </a:r>
          </a:p>
          <a:p>
            <a:r>
              <a:rPr sz="1000">
                <a:solidFill>
                  <a:srgbClr val="1E293B"/>
                </a:solidFill>
              </a:rPr>
              <a:t>• Mitigates regulatory penalties: Clear QCO visibility prevents product confiscation or compliance failure.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512064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4C78"/>
                </a:solidFill>
              </a:defRPr>
            </a:pPr>
            <a:r>
              <a:t>📈 Commercial &amp; Scalability Model</a:t>
            </a:r>
          </a:p>
          <a:p>
            <a:r>
              <a:rPr sz="1000">
                <a:solidFill>
                  <a:srgbClr val="1E293B"/>
                </a:solidFill>
              </a:rPr>
              <a:t>• Public-Private Utility: Free public citizen access with potential premium API webhooks for enterprise ERP integration.</a:t>
            </a:r>
          </a:p>
          <a:p>
            <a:r>
              <a:rPr sz="1000">
                <a:solidFill>
                  <a:srgbClr val="1E293B"/>
                </a:solidFill>
              </a:rPr>
              <a:t>• Modular Extensibility: Easily scalable to include state regulations, international ISO/IEC equivalencies, and live lab test slot booking.</a:t>
            </a:r>
          </a:p>
          <a:p>
            <a:r>
              <a:rPr sz="1000">
                <a:solidFill>
                  <a:srgbClr val="1E293B"/>
                </a:solidFill>
              </a:rPr>
              <a:t>• Sustainable Maintenance: Automated ingestion scrapers update changes in gazette notifications with zero system downtime.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114800"/>
            <a:ext cx="5212080" cy="73152"/>
          </a:xfrm>
          <a:prstGeom prst="rect">
            <a:avLst/>
          </a:prstGeom>
          <a:solidFill>
            <a:srgbClr val="18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2976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4C78"/>
                </a:solidFill>
              </a:defRPr>
            </a:pPr>
            <a:r>
              <a:t>🤝 Consumer &amp; Societal Viability</a:t>
            </a:r>
          </a:p>
          <a:p>
            <a:r>
              <a:rPr sz="1000">
                <a:solidFill>
                  <a:srgbClr val="1E293B"/>
                </a:solidFill>
              </a:rPr>
              <a:t>• Democratizes quality standards knowledge for consumers checking ISI and Hallmarked gold authenticity.</a:t>
            </a:r>
          </a:p>
          <a:p>
            <a:r>
              <a:rPr sz="1000">
                <a:solidFill>
                  <a:srgbClr val="1E293B"/>
                </a:solidFill>
              </a:rPr>
              <a:t>• Multilingual interface ensures equitable access across diverse linguistic demographics.</a:t>
            </a:r>
          </a:p>
          <a:p>
            <a:r>
              <a:rPr sz="1000">
                <a:solidFill>
                  <a:srgbClr val="1E293B"/>
                </a:solidFill>
              </a:rPr>
              <a:t>• Builds trust in 'Make in India' and national quality standards infrastructure.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017"/>
                </a:solidFill>
                <a:latin typeface="Arial"/>
              </a:defRPr>
            </a:pPr>
            <a:r>
              <a:t>SMART INDIA HACKATHON • SIH26107 | BIS SMARTASSIST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4C78"/>
                </a:solidFill>
                <a:latin typeface="Georgia"/>
              </a:defRPr>
            </a:pPr>
            <a:r>
              <a:t>Impact and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955D"/>
                </a:solidFill>
              </a:defRPr>
            </a:pPr>
            <a:r>
              <a:t>🎯 98.00%</a:t>
            </a:r>
          </a:p>
          <a:p>
            <a:pPr algn="ctr">
              <a:defRPr sz="1100" b="1">
                <a:solidFill>
                  <a:srgbClr val="1E293B"/>
                </a:solidFill>
              </a:defRPr>
            </a:pPr>
            <a:r>
              <a:t>Recall @ 5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+13% over baseline hybrid retrieval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7373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955D"/>
                </a:solidFill>
              </a:defRPr>
            </a:pPr>
            <a:r>
              <a:t>🥇 90.00%</a:t>
            </a:r>
          </a:p>
          <a:p>
            <a:pPr algn="ctr">
              <a:defRPr sz="1100" b="1">
                <a:solidFill>
                  <a:srgbClr val="1E293B"/>
                </a:solidFill>
              </a:defRPr>
            </a:pPr>
            <a:r>
              <a:t>Recall @ 1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Accurate standard at Top-1 result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7373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84C78"/>
                </a:solidFill>
              </a:defRPr>
            </a:pPr>
            <a:r>
              <a:t>🛡️ 100.0%</a:t>
            </a:r>
          </a:p>
          <a:p>
            <a:pPr algn="ctr">
              <a:defRPr sz="1100" b="1">
                <a:solidFill>
                  <a:srgbClr val="1E293B"/>
                </a:solidFill>
              </a:defRPr>
            </a:pPr>
            <a:r>
              <a:t>Clause Accuracy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Zero hallucinations on technical limits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7373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017"/>
                </a:solidFill>
              </a:defRPr>
            </a:pPr>
            <a:r>
              <a:t>🛑 100.0%</a:t>
            </a:r>
          </a:p>
          <a:p>
            <a:pPr algn="ctr">
              <a:defRPr sz="1100" b="1">
                <a:solidFill>
                  <a:srgbClr val="1E293B"/>
                </a:solidFill>
              </a:defRPr>
            </a:pPr>
            <a:r>
              <a:t>Unsupported Refusal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Protective zero-hallucination guardrail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51206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91840"/>
            <a:ext cx="4754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4C78"/>
                </a:solidFill>
              </a:defRPr>
            </a:pPr>
            <a:r>
              <a:t>🏭 Benefits to Industry &amp; MSMEs</a:t>
            </a:r>
          </a:p>
          <a:p>
            <a:r>
              <a:rPr sz="1000">
                <a:solidFill>
                  <a:srgbClr val="1E293B"/>
                </a:solidFill>
              </a:rPr>
              <a:t>• ⚡ Instant Standard Discovery: Search by product name, application, or industry sector in seconds.</a:t>
            </a:r>
          </a:p>
          <a:p>
            <a:r>
              <a:rPr sz="1000">
                <a:solidFill>
                  <a:srgbClr val="1E293B"/>
                </a:solidFill>
              </a:rPr>
              <a:t>• ⚠️ Clear QCO Enforcement Tracking: Instant warning if mandatory Quality Control Order applies.</a:t>
            </a:r>
          </a:p>
          <a:p>
            <a:r>
              <a:rPr sz="1000">
                <a:solidFill>
                  <a:srgbClr val="1E293B"/>
                </a:solidFill>
              </a:rPr>
              <a:t>• 📋 Audit Dossier Generation: Automatically export structured compliance checklists for certification filings.</a:t>
            </a:r>
          </a:p>
          <a:p>
            <a:r>
              <a:rPr sz="1000">
                <a:solidFill>
                  <a:srgbClr val="1E293B"/>
                </a:solidFill>
              </a:rPr>
              <a:t>• 💰 Cost Savings: Estimated 80% reduction in preliminary compliance advisory costs for new startups.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200400"/>
            <a:ext cx="52120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291840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4C78"/>
                </a:solidFill>
              </a:defRPr>
            </a:pPr>
            <a:r>
              <a:t>🇮🇳 Benefits to Government &amp; Citizens</a:t>
            </a:r>
          </a:p>
          <a:p>
            <a:r>
              <a:rPr sz="1000">
                <a:solidFill>
                  <a:srgbClr val="1E293B"/>
                </a:solidFill>
              </a:rPr>
              <a:t>• 🚀 Empowers 'Make in India': Accelerates adoption of world-class manufacturing standards.</a:t>
            </a:r>
          </a:p>
          <a:p>
            <a:r>
              <a:rPr sz="1000">
                <a:solidFill>
                  <a:srgbClr val="1E293B"/>
                </a:solidFill>
              </a:rPr>
              <a:t>• 🛡️ Protects Consumer Welfare: Easy verification of ISI marks, hallmark purities, and safety mandates.</a:t>
            </a:r>
          </a:p>
          <a:p>
            <a:r>
              <a:rPr sz="1000">
                <a:solidFill>
                  <a:srgbClr val="1E293B"/>
                </a:solidFill>
              </a:rPr>
              <a:t>• 🏛️ Administrative Efficiency: Eases BIS departmental ticket queues via automated 24/7 self-service.</a:t>
            </a:r>
          </a:p>
          <a:p>
            <a:r>
              <a:rPr sz="1000">
                <a:solidFill>
                  <a:srgbClr val="1E293B"/>
                </a:solidFill>
              </a:rPr>
              <a:t>• 🌐 Transparent Governance: Direct links to official e-BIS gazettes eliminate misinformation.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017"/>
                </a:solidFill>
                <a:latin typeface="Arial"/>
              </a:defRPr>
            </a:pPr>
            <a:r>
              <a:t>SMART INDIA HACKATHON • SIH26107 | BIS SMARTASSIST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4C78"/>
                </a:solidFill>
                <a:latin typeface="Georgia"/>
              </a:defRPr>
            </a:pPr>
            <a:r>
              <a:t>Research Contribution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4C78"/>
                </a:solidFill>
              </a:defRPr>
            </a:pPr>
            <a:r>
              <a:t>🔬 Scientific Research Contribution</a:t>
            </a:r>
          </a:p>
          <a:p>
            <a:r>
              <a:rPr b="1" sz="1100">
                <a:solidFill>
                  <a:srgbClr val="1E293B"/>
                </a:solidFill>
              </a:rPr>
              <a:t>• 📊 Novel Benchmark Dataset:</a:t>
            </a:r>
            <a:r>
              <a:rPr sz="1000">
                <a:solidFill>
                  <a:srgbClr val="64748B"/>
                </a:solidFill>
              </a:rPr>
              <a:t>  Curated 100-question multi-category gold benchmark spanning 10 complex regulatory query types with clause-level ground truth.</a:t>
            </a:r>
          </a:p>
          <a:p>
            <a:r>
              <a:rPr b="1" sz="1100">
                <a:solidFill>
                  <a:srgbClr val="1E293B"/>
                </a:solidFill>
              </a:rPr>
              <a:t>• 🧠 Adversarial Hard-Negative Mining:</a:t>
            </a:r>
            <a:r>
              <a:rPr sz="1000">
                <a:solidFill>
                  <a:srgbClr val="64748B"/>
                </a:solidFill>
              </a:rPr>
              <a:t>  Empirical methodology for mining confusing similar standards into fine-tuned Cross-Encoder training, raising MRR to 0.9323.</a:t>
            </a:r>
          </a:p>
          <a:p>
            <a:r>
              <a:rPr b="1" sz="1100">
                <a:solidFill>
                  <a:srgbClr val="1E293B"/>
                </a:solidFill>
              </a:rPr>
              <a:t>• ⚖️ Multi-Signal Confidence Formulation:</a:t>
            </a:r>
            <a:r>
              <a:rPr sz="1000">
                <a:solidFill>
                  <a:srgbClr val="64748B"/>
                </a:solidFill>
              </a:rPr>
              <a:t>  Closed-form calibration equation combining top candidate score, exact entity recognition, channel consensus, and ranking margin.</a:t>
            </a:r>
          </a:p>
          <a:p>
            <a:r>
              <a:rPr b="1" sz="1100">
                <a:solidFill>
                  <a:srgbClr val="1E293B"/>
                </a:solidFill>
              </a:rPr>
              <a:t>• 🛡️ Zero-Hallucination Regulatory Bounds:</a:t>
            </a:r>
            <a:r>
              <a:rPr sz="1000">
                <a:solidFill>
                  <a:srgbClr val="64748B"/>
                </a:solidFill>
              </a:rPr>
              <a:t>  Proven architecture achieving 100% accuracy on detecting and refusing out-of-domain / unsupported regulatory inquiries.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4C78"/>
                </a:solidFill>
              </a:defRPr>
            </a:pPr>
            <a:r>
              <a:t>🗺️ Project Roadmap &amp; Scalability</a:t>
            </a:r>
          </a:p>
          <a:p>
            <a:r>
              <a:rPr b="1" sz="1100">
                <a:solidFill>
                  <a:srgbClr val="1E293B"/>
                </a:solidFill>
              </a:rPr>
              <a:t>• 🟢 Phase 1 (Current):</a:t>
            </a:r>
            <a:r>
              <a:rPr sz="1000">
                <a:solidFill>
                  <a:srgbClr val="64748B"/>
                </a:solidFill>
              </a:rPr>
              <a:t>  Production prototype with 23,866 Indian Standards, 17 Technical Booklets, fine-tuned reranker, and multilingual UI.</a:t>
            </a:r>
          </a:p>
          <a:p>
            <a:r>
              <a:rPr b="1" sz="1100">
                <a:solidFill>
                  <a:srgbClr val="1E293B"/>
                </a:solidFill>
              </a:rPr>
              <a:t>• 🌐 Phase 2 (Integration):</a:t>
            </a:r>
            <a:r>
              <a:rPr sz="1000">
                <a:solidFill>
                  <a:srgbClr val="64748B"/>
                </a:solidFill>
              </a:rPr>
              <a:t>  Official pilot integration with BIS Manakonline &amp; e-BIS portal search bars via lightweight REST microservices.</a:t>
            </a:r>
          </a:p>
          <a:p>
            <a:r>
              <a:rPr b="1" sz="1100">
                <a:solidFill>
                  <a:srgbClr val="1E293B"/>
                </a:solidFill>
              </a:rPr>
              <a:t>• 📱 Phase 3 (Mobile &amp; Voice):</a:t>
            </a:r>
            <a:r>
              <a:rPr sz="1000">
                <a:solidFill>
                  <a:srgbClr val="64748B"/>
                </a:solidFill>
              </a:rPr>
              <a:t>  WhatsApp chatbot and voice-first AI assistant in 10+ Indian regional languages for on-field factory inspectors and rural artisans.</a:t>
            </a:r>
          </a:p>
          <a:p>
            <a:r>
              <a:rPr b="1" sz="1100">
                <a:solidFill>
                  <a:srgbClr val="1E293B"/>
                </a:solidFill>
              </a:rPr>
              <a:t>• 📋 Phase 4 (Automated Compliance Auditor):</a:t>
            </a:r>
            <a:r>
              <a:rPr sz="1000">
                <a:solidFill>
                  <a:srgbClr val="64748B"/>
                </a:solidFill>
              </a:rPr>
              <a:t>  PDF upload feature allowing manufacturers to upload lab test reports for automated BIS conformance auditing.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